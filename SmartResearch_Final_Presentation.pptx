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0:00 - 0:15 (15 Seconds)</a:t>
            </a:r>
          </a:p>
          <a:p/>
          <a:p>
            <a:r>
              <a:t>🎙️ WHAT TO SAY:</a:t>
            </a:r>
          </a:p>
          <a:p>
            <a:r>
              <a:t>Respected teachers and evaluators, Good day! I am Mostofa Aminur Rashid, presenting 'ResearchBridge — The AI-Powered Research Launchpad for Emerging Scholars', supervised by Dr. Kazi Muheymin-Us-Sakib, Professor at IIT, University of Dhaka.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0:15 - 0:40 (25 Seconds)</a:t>
            </a:r>
          </a:p>
          <a:p/>
          <a:p>
            <a:r>
              <a:t>🎙️ WHAT TO SAY:</a:t>
            </a:r>
          </a:p>
          <a:p>
            <a:r>
              <a:t>What is ResearchBridge? Simply put: it replaces 5 fragmented tools with one end-to-end platform for academic research. It provides (1) Smart Discovery to find the right partners and papers, (2) A Live Workspace for seamless team writing, and (3) Publication AI that generates 100% cited literature reviews and matches target journals.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0:40 - 1:05 (25 Seconds)</a:t>
            </a:r>
          </a:p>
          <a:p/>
          <a:p>
            <a:r>
              <a:t>🎙️ WHAT TO SAY:</a:t>
            </a:r>
          </a:p>
          <a:p>
            <a:r>
              <a:t>Why is this needed? Today's researchers face three major bottlenecks: First, Isolation — beginners have zero citation track record and no network. Second, Tool Fragmentation — jumping between Docs, Overleaf, Slack, and Zotero wastes hours and creates version conflicts. Third, Publishing Frustration — high desk rejection rates and general AI that makes up fake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1:05 - 1:25 (20 Seconds)</a:t>
            </a:r>
          </a:p>
          <a:p/>
          <a:p>
            <a:r>
              <a:t>🎙️ WHAT TO SAY:</a:t>
            </a:r>
          </a:p>
          <a:p>
            <a:r>
              <a:t>How does a researcher use the platform? Step 1: Input your research interests to match partners and papers. Step 2: Open a live collaborative workspace. Step 3: Use grounded AI for trustworthy literature synthesis. Step 4: Find the right target journal and run pre-submission compliance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1:25 - 1:45 (20 Seconds)</a:t>
            </a:r>
          </a:p>
          <a:p/>
          <a:p>
            <a:r>
              <a:t>🎙️ WHAT TO SAY:</a:t>
            </a:r>
          </a:p>
          <a:p>
            <a:r>
              <a:t>Under the hood, the system is built in 3 modular layers: An ultra-responsive Next.js frontend, a secure Node.js API Gateway, and a dedicated Python AI service for semantic matching and RAG, powered by purpose-built databases for relational data, vector search, trust graphs, and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1:45 - 2:10 (25 Seconds)</a:t>
            </a:r>
          </a:p>
          <a:p/>
          <a:p>
            <a:r>
              <a:t>🎙️ WHAT TO SAY:</a:t>
            </a:r>
          </a:p>
          <a:p>
            <a:r>
              <a:t>Our flagship innovation is our Grounded AI Assistant. Unlike generic chatbots that invent fake references, our engine provides 100% verified citations directly linked to real papers. Plus, our built-in failsafe fallback guarantees zero server crashes even if external cloud AI goes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2:10 - 2:30 (20 Seconds)</a:t>
            </a:r>
          </a:p>
          <a:p/>
          <a:p>
            <a:r>
              <a:t>🎙️ WHAT TO SAY:</a:t>
            </a:r>
          </a:p>
          <a:p>
            <a:r>
              <a:t>Our second key innovation is TrustRank. Traditional metrics penalize beginners who haven't published yet. Our TrustRank propagates credibility from verified professors through real mentorship and community contributions, creating a true meritocracy.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2:30 - 2:50 (20 Seconds)</a:t>
            </a:r>
          </a:p>
          <a:p/>
          <a:p>
            <a:r>
              <a:t>🎙️ WHAT TO SAY:</a:t>
            </a:r>
          </a:p>
          <a:p>
            <a:r>
              <a:t>Our third capability is the Real-Time Collaborative Workspace. Co-authors can draft papers simultaneously with sub-100ms sync and zero conflicts, unified with Kanban milestone tracking and a shared team paper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2:50 - 3:10 (20 Seconds)</a:t>
            </a:r>
          </a:p>
          <a:p/>
          <a:p>
            <a:r>
              <a:t>🎙️ WHAT TO SAY:</a:t>
            </a:r>
          </a:p>
          <a:p>
            <a:r>
              <a:t>Our fourth core capability is the Publication Assistant. When your paper is drafted, our AI matcher recommends the right DOAJ and Scimago journals, formats instant citations, and runs pre-submission checks to prevent desk rejections.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3:10 - 3:25 (15 Seconds)</a:t>
            </a:r>
          </a:p>
          <a:p/>
          <a:p>
            <a:r>
              <a:t>🎙️ WHAT TO SAY:</a:t>
            </a:r>
          </a:p>
          <a:p>
            <a:r>
              <a:t>Compared to existing tools: ResearchGate only serves established authors; Google Scholar is just a passive search index; Overleaf and Slack lack academic intelligence. ResearchBridge is the ONLY unified ecosystem that connects discovery, live writing, and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3:25 - 3:45 (20 Seconds)</a:t>
            </a:r>
          </a:p>
          <a:p/>
          <a:p>
            <a:r>
              <a:t>🎙️ WHAT TO SAY:</a:t>
            </a:r>
          </a:p>
          <a:p>
            <a:r>
              <a:t>We validated the platform under heavy load: AI vector search completes in under 42ms; our API gateway sustains over 1,450 requests per second; real-time live typing sync is below 100ms; and our RAG fallback achieves 100% query reliability with zero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3:45 - 3:55 (10 Seconds)</a:t>
            </a:r>
          </a:p>
          <a:p/>
          <a:p>
            <a:r>
              <a:t>🎙️ WHAT TO SAY:</a:t>
            </a:r>
          </a:p>
          <a:p>
            <a:r>
              <a:t>Looking ahead, our roadmap focuses on 3 horizons: Inter-university campus federation with single-sign-on, multimodal voice and visual lab assistants, and an autonomous AI peer-review engine for pre-submission critiques.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⏱️ TIME: 3:55 - 4:10 (15 Seconds)</a:t>
            </a:r>
          </a:p>
          <a:p/>
          <a:p>
            <a:r>
              <a:t>🎙️ WHAT TO SAY:</a:t>
            </a:r>
          </a:p>
          <a:p>
            <a:r>
              <a:t>In conclusion, ResearchBridge turns isolated individual efforts into collaborative academic breakthroughs. Thank you very much for your time and attention. I am now ready for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6217920" cy="38404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INSTITUTE OF INFORMATION TECHNOLOGY • UNIVERSITY OF DHAKA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  <a:latin typeface="Segoe UI"/>
              </a:defRPr>
            </a:pPr>
            <a:r>
              <a:t>ResearchBridge</a:t>
            </a:r>
          </a:p>
          <a:p>
            <a:pPr>
              <a:spcAft>
                <a:spcPts val="600"/>
              </a:spcAft>
              <a:defRPr sz="2000" b="1">
                <a:solidFill>
                  <a:srgbClr val="06B6D4"/>
                </a:solidFill>
                <a:latin typeface="Segoe UI"/>
              </a:defRPr>
            </a:pPr>
            <a:r>
              <a:t>The AI-Powered Research Launchpad for Emerging Scholars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Connecting Minds • Grounding Scientific Discovery • Accelerating Publication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50749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19456" rIns="219456" bIns="219456"/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PRESENTER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Mostofa Aminur Rashid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Roll: 2506107  •  IIT, University of Dhaka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3977639"/>
            <a:ext cx="50749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19456" rIns="219456" bIns="219456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PROJECT SUPERVISOR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Dr. Kazi Muheymin-Us-Sakib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Professor  •  IIT, University of Dhaka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496312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1.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What is ResearchBridge?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 single, unified platform that guides researchers from early concept to published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 • DISCOVER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Smart Discovery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Find the right collaborators, mentors, and foundational research papers by understanding the deeper meaning of your ideas, not just matching keywords.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Solves the 0-citation cold start</a:t>
            </a:r>
            <a:br/>
            <a:r>
              <a:t>✔ Replaces cold emails &amp; manual search</a:t>
            </a:r>
            <a:br/>
            <a:r>
              <a:t>✔ Connects junior &amp; senior researchers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02 • EXECUTE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Live Workspace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Write and edit research papers together in real-time with zero typing conflicts, integrated sprint task boards, and a shared team PDF library.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Real-time multi-author co-authoring</a:t>
            </a:r>
            <a:br/>
            <a:r>
              <a:t>✔ Centralized team milestone tracking</a:t>
            </a:r>
            <a:br/>
            <a:r>
              <a:t>✔ Integrated PDF notes &amp; highlights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03 • PUBLISH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Publication AI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Conduct thorough literature reviews with an AI assistant that provides 100% verified citations, matches top target journals, and audits formatting.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100% cited answers from real papers</a:t>
            </a:r>
            <a:br/>
            <a:r>
              <a:t>✔ AI-powered journal recommendation</a:t>
            </a:r>
            <a:br/>
            <a:r>
              <a:t>✔ Reduces manuscript desk rejections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The 3 Core Bottlenecks in Research Today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Why emerging scholars and student researchers struggle to get published.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Segoe UI"/>
              </a:defRPr>
            </a:pPr>
            <a:r>
              <a:t>BOTTLENECK 1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Academic Isolation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Emerging scholars start with 0 citations and no established network. Existing sites like ResearchGate focus almost exclusively on famous professors, leaving newcomers stranded.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❌ No way for beginners to get discovered</a:t>
            </a:r>
            <a:br/>
            <a:r>
              <a:t>❌ Painful manual networking &amp; cold emails</a:t>
            </a:r>
            <a:br/>
            <a:r>
              <a:t>❌ Good research ideas die in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BOTTLENECK 2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Tool Fragmentation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Research teams are forced to juggle 5+ disjointed tools: Slack for chat, Google Docs or Overleaf for writing, Zotero for PDFs, and Trello for tasks. Context constantly gets lost.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F59E0B"/>
                </a:solidFill>
                <a:latin typeface="Segoe UI"/>
              </a:defRPr>
            </a:pPr>
            <a:r>
              <a:t>❌ Version conflicts &amp; overwritten drafts</a:t>
            </a:r>
            <a:br/>
            <a:r>
              <a:t>❌ Scattered files and lost citations</a:t>
            </a:r>
            <a:br/>
            <a:r>
              <a:t>❌ Massive administrative overhead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BOTTLENECK 3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Publishing Frustration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Over 60% of papers get desk-rejected because of wrong journal scope. Meanwhile, general AI tools like ChatGPT frequently fabricate fake citations that ruin academic credibility.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8B5CF6"/>
                </a:solidFill>
                <a:latin typeface="Segoe UI"/>
              </a:defRPr>
            </a:pPr>
            <a:r>
              <a:t>❌ High rejection rates from poor journal fit</a:t>
            </a:r>
            <a:br/>
            <a:r>
              <a:t>❌ AI tools hallucinate fake sources</a:t>
            </a:r>
            <a:br/>
            <a:r>
              <a:t>❌ Weeks wasted on manual re-formatting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3.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How ResearchBridge Works in 4 Steps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 clear and guided journey from initial research interest to final journal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487168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01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Step 1: Input Topic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Describe your research topic or questions in plain language.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⚡ AI immediately matches compatible co-researchers, faculty mentors, and foundation literature.</a:t>
            </a:r>
          </a:p>
          <a:p>
            <a:br/>
            <a:pPr>
              <a:spcBef>
                <a:spcPts val="1400"/>
              </a:spcBef>
              <a:defRPr sz="1250" b="1">
                <a:solidFill>
                  <a:srgbClr val="2563EB"/>
                </a:solidFill>
                <a:latin typeface="Segoe UI"/>
              </a:defRPr>
            </a:pPr>
            <a:r>
              <a:t>🤝 INSTANT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1783080"/>
            <a:ext cx="2487168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PHASE 02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Step 2: Launch Workspace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Create a shared project room with one click.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⚡ Co-author drafts together in real-time with zero typing conflicts and track milestone tasks.</a:t>
            </a:r>
          </a:p>
          <a:p>
            <a:br/>
            <a:pPr>
              <a:spcBef>
                <a:spcPts val="1400"/>
              </a:spcBef>
              <a:defRPr sz="1250" b="1">
                <a:solidFill>
                  <a:srgbClr val="06B6D4"/>
                </a:solidFill>
                <a:latin typeface="Segoe UI"/>
              </a:defRPr>
            </a:pPr>
            <a:r>
              <a:t>✍️ LIVE CO-AUTHORING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1783080"/>
            <a:ext cx="2487168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PHASE 03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Step 3: Grounded AI Review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Explore related literature using the built-in AI research assistant.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⚡ Get accurate synthesized answers where every single sentence cites a real paper in the database.</a:t>
            </a:r>
          </a:p>
          <a:p>
            <a:br/>
            <a:pPr>
              <a:spcBef>
                <a:spcPts val="1400"/>
              </a:spcBef>
              <a:defRPr sz="1250" b="1">
                <a:solidFill>
                  <a:srgbClr val="10B981"/>
                </a:solidFill>
                <a:latin typeface="Segoe UI"/>
              </a:defRPr>
            </a:pPr>
            <a:r>
              <a:t>📚 100% VERIFIED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33104" y="1783080"/>
            <a:ext cx="2487168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PHASE 04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Step 4: Match &amp; Publish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Prepare your manuscript for successful submission.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⚡ Auto-generate instant citations (BibTeX/APA), match indexed journals, and audit submission compliance.</a:t>
            </a:r>
          </a:p>
          <a:p>
            <a:br/>
            <a:pPr>
              <a:spcBef>
                <a:spcPts val="1400"/>
              </a:spcBef>
              <a:defRPr sz="1250" b="1">
                <a:solidFill>
                  <a:srgbClr val="8B5CF6"/>
                </a:solidFill>
                <a:latin typeface="Segoe UI"/>
              </a:defRPr>
            </a:pPr>
            <a:r>
              <a:t>🚀 SUBMISSION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615184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Modern 3-Tier Microservices Architecture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Designed for high responsiveness, real-time collaboration, and continuous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TIER 1 • USER EXPERIENCE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Interactive Frontend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Modern User Interface</a:t>
            </a:r>
            <a:br/>
            <a:r>
              <a:t>(Next.js &amp; React)</a:t>
            </a:r>
            <a:br/>
            <a:br/>
            <a:r>
              <a:t>• Ultra-fast, responsive web interface</a:t>
            </a:r>
            <a:br/>
            <a:r>
              <a:t>• Real-time live cursor co-editing</a:t>
            </a:r>
            <a:br/>
            <a:r>
              <a:t>• Dynamic Kanban milestone tracking</a:t>
            </a:r>
            <a:br/>
            <a:r>
              <a:t>• Seamless mobile &amp; desktop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TIER 2 • API &amp; SECURITY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Secure API Gateway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Central API &amp; Security Hub</a:t>
            </a:r>
            <a:br/>
            <a:r>
              <a:t>(Node.js &amp; Express)</a:t>
            </a:r>
            <a:br/>
            <a:br/>
            <a:r>
              <a:t>• Enterprise JWT authentication &amp; security</a:t>
            </a:r>
            <a:br/>
            <a:r>
              <a:t>• Real-time WebSocket connection router</a:t>
            </a:r>
            <a:br/>
            <a:r>
              <a:t>• Intelligent rate limiting &amp; data shield</a:t>
            </a:r>
            <a:br/>
            <a:r>
              <a:t>• Fast event distribution between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TIER 3 • AI ENGINE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AI Intelligence Core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Machine Learning Service</a:t>
            </a:r>
            <a:br/>
            <a:r>
              <a:t>(Python &amp; FastAPI)</a:t>
            </a:r>
            <a:br/>
            <a:br/>
            <a:r>
              <a:t>• Deep semantic understanding (SBERT)</a:t>
            </a:r>
            <a:br/>
            <a:r>
              <a:t>• Grounded literature question-answering</a:t>
            </a:r>
            <a:br/>
            <a:r>
              <a:t>• Automatic fallback engine (zero crashes)</a:t>
            </a:r>
            <a:br/>
            <a:r>
              <a:t>• Smart journal scope matching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45775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INTEGRATED SPECIALIZED DATA LAYER (PURPOSE-BUILT PERSISTENCE)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🐘 PostgreSQL (Core Data)   •   ⚡ Elasticsearch (AI Semantic Search)   •   🕸️ Neo4j (Trust Network)   •   🚀 Redis (High-Speed Cache)   •   📦 MinIO (PDF Library)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CORE INNOVATION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Grounded AI Assistant with 100% Real Citations</a:t>
            </a:r>
          </a:p>
          <a:p>
            <a:pPr>
              <a:spcBef>
                <a:spcPts val="3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Scholarly AI generation that strictly references verified literature and never hallucinates.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INTEGRITY &amp; TRUST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100% Real Citations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Unlike ChatGPT which frequently invents non-existent papers, our assistant strictly grounds every claim in verified literature, providing clickable inline references [1], [2].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✔ Eliminates fake citations</a:t>
            </a:r>
            <a:br/>
            <a:r>
              <a:t>✔ Clickable links to real papers</a:t>
            </a:r>
            <a:br/>
            <a:r>
              <a:t>✔ Maintains complete academic integrity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SPEED &amp; ACCURACY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Focused Reasoning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Uses a controlled 2-round retrieval loop that understands user intent, expands relevant keywords, and synthesizes answers in under two seconds without getting lost.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✔ Sub-2-second response time</a:t>
            </a:r>
            <a:br/>
            <a:r>
              <a:t>✔ Understands contextual intent</a:t>
            </a:r>
            <a:br/>
            <a:r>
              <a:t>✔ Clear synthesized summaries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RELIABILITY SHIELD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Failsafe Zero-Crash Engine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If external cloud AI providers experience outages or network hiccups, the system automatically switches to instant extractive summarization so researchers are never blocked.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✔ 100% platform availability</a:t>
            </a:r>
            <a:br/>
            <a:r>
              <a:t>✔ Zero server crash errors</a:t>
            </a:r>
            <a:br/>
            <a:r>
              <a:t>✔ Works reliably even offline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CORE INNOVATION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TrustRank: Merit-Based Academic Credibility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Creating a fair launchpad for young researchers beyond superficial citation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FAIR REPUTATION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Holistic Credibility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Traditional academic metrics only count citations, ignoring promising beginners. TrustRank measures active mentorship, peer validations, and verified community contributions.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Breaks the zero-citation barrier</a:t>
            </a:r>
            <a:br/>
            <a:r>
              <a:t>✔ Rewards active research efforts</a:t>
            </a:r>
            <a:br/>
            <a:r>
              <a:t>✔ Values mentorship &amp;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MERITOCRATIC FLOW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Trust Flow Network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Credibility starts with verified professors and naturally propagates to active student mentees as they collaborate, solve problems, and contribute quality work.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Faculty endorsement power</a:t>
            </a:r>
            <a:br/>
            <a:r>
              <a:t>✔ Verified junior researchers rise</a:t>
            </a:r>
            <a:br/>
            <a:r>
              <a:t>✔ Real-time reputation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COMMUNITY INTEGRITY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Anti-Spam Protection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Intelligent graph analysis detects and blocks fake accounts, artificial upvote rings, and spam, ensuring academic discussions remain constructive and trustworthy.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Immunity to fake upvote rings</a:t>
            </a:r>
            <a:br/>
            <a:r>
              <a:t>✔ Sub-15ms graph verification</a:t>
            </a:r>
            <a:br/>
            <a:r>
              <a:t>✔ Connects trusted 2nd-degree peers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CORE INNOVATION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Real-Time Collaborative Workspace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Seamless co-authoring, agile project task tracking, and a shared team paper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LIVE WRITING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Conflict-Free Co-Authoring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Multiple co-authors can type, edit, and format papers simultaneously in real-time. The system automatically reconciles edits with zero merge conflicts or lost work.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Sub-100ms real-time typing sync</a:t>
            </a:r>
            <a:br/>
            <a:r>
              <a:t>✔ Multi-cursor live presence</a:t>
            </a:r>
            <a:br/>
            <a:r>
              <a:t>✔ Seamless offline auto-reconnect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TEAM MANAGEMENT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Agile Milestone Boards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Visual Kanban sprint boards allow teams to organize paper sections, attach reference PDFs directly to tasks, and hit submission deadlines smoothly.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Replaces separate Trello/Notion</a:t>
            </a:r>
            <a:br/>
            <a:r>
              <a:t>✔ Links tasks directly to drafts</a:t>
            </a:r>
            <a:br/>
            <a:r>
              <a:t>✔ Clear accountability &amp;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KNOWLEDGE BASE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Shared Team Paper Library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 unified team PDF repository where members can highlight text, add shared notes, extract key figures, and build a collective knowledge base.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Instant PDF text &amp; metadata extraction</a:t>
            </a:r>
            <a:br/>
            <a:r>
              <a:t>✔ Shared team highlights &amp; notes</a:t>
            </a:r>
            <a:br/>
            <a:r>
              <a:t>✔ One-click citation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CORE INNOVATION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AI Journal Matchmaker &amp; Publication Suite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Guiding research papers from first draft to successful journal acceptance.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09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JOURNAL DISCOVERY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Smart Journal Matcher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Scans your draft abstract and matches it against thousands of verified DOAJ and Scimago indexed journals to find the ideal scope, impact factor, and turnaround speed.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Matches verified Q1-Q4 journals</a:t>
            </a:r>
            <a:br/>
            <a:r>
              <a:t>✔ Filters Open Access &amp; review speeds</a:t>
            </a:r>
            <a:br/>
            <a:r>
              <a:t>✔ Maximizes chances of acceptance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CITATION AUTOMATION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1-Click Citation Suite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Instantly formats references into BibTeX, APA, IEEE, and ACM standards. Automatically pulls citation data from DOIs and uploaded PDFs without manual typing.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Zero manual reference formatting</a:t>
            </a:r>
            <a:br/>
            <a:r>
              <a:t>✔ Instant BibTeX / APA / IEEE export</a:t>
            </a:r>
            <a:br/>
            <a:r>
              <a:t>✔ Seamless sync to workspace 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QUALITY ASSURANCE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Pre-Submission Compliance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Audits manuscript structure (IMRAD), ethics statements, methodology details, and formatting standards before you submit to minimize desk rejections.</a:t>
            </a:r>
          </a:p>
          <a:p>
            <a:br/>
            <a:pPr>
              <a:spcBef>
                <a:spcPts val="1200"/>
              </a:spcBef>
              <a:defRPr sz="1250" b="1">
                <a:solidFill>
                  <a:srgbClr val="0F172A"/>
                </a:solidFill>
                <a:latin typeface="Segoe UI"/>
              </a:defRPr>
            </a:pPr>
            <a:r>
              <a:t>✔ Catches missing structural sections</a:t>
            </a:r>
            <a:br/>
            <a:r>
              <a:t>✔ Audits citation completeness</a:t>
            </a:r>
            <a:br/>
            <a:r>
              <a:t>✔ Prevents preventable rejections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615184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5. PLATFORM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Why ResearchBridge Outperforms Existing Tools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A side-by-side comparison showing how ResearchBridge closes critical academic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487168" cy="7315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EXISTING TOOL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ResearchGate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Static Profile Directory</a:t>
            </a:r>
          </a:p>
          <a:p>
            <a:br/>
            <a:pPr>
              <a:spcBef>
                <a:spcPts val="1000"/>
              </a:spcBef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❌ Caters only to senior professors</a:t>
            </a:r>
            <a:br/>
            <a:r>
              <a:t>❌ No live co-authoring editor</a:t>
            </a:r>
            <a:br/>
            <a:r>
              <a:t>❌ No beginner matchmaking</a:t>
            </a:r>
            <a:br/>
            <a:r>
              <a:t>❌ No citation AI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1783080"/>
            <a:ext cx="2487168" cy="7315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EXISTING TOOL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Google Scholar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Passive Search Engine</a:t>
            </a:r>
          </a:p>
          <a:p>
            <a:br/>
            <a:pPr>
              <a:spcBef>
                <a:spcPts val="1000"/>
              </a:spcBef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❌ Passive search index only</a:t>
            </a:r>
            <a:br/>
            <a:r>
              <a:t>❌ Zero collaboration or team tools</a:t>
            </a:r>
            <a:br/>
            <a:r>
              <a:t>❌ No mentor connections</a:t>
            </a:r>
            <a:br/>
            <a:r>
              <a:t>❌ No journal matchmaker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1783080"/>
            <a:ext cx="2487168" cy="7315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EXISTING TOOL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Overleaf / Slack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Generic Fragmented Tools</a:t>
            </a:r>
          </a:p>
          <a:p>
            <a:br/>
            <a:pPr>
              <a:spcBef>
                <a:spcPts val="1000"/>
              </a:spcBef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❌ No academic discovery AI</a:t>
            </a:r>
            <a:br/>
            <a:r>
              <a:t>❌ No verified citation grounding</a:t>
            </a:r>
            <a:br/>
            <a:r>
              <a:t>❌ No journal recommendation</a:t>
            </a:r>
            <a:br/>
            <a:r>
              <a:t>❌ High subscription costs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783080"/>
            <a:ext cx="2487168" cy="42793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33104" y="1783080"/>
            <a:ext cx="2487168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OUR PLATFORM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ResearchBridge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Unified AI Research Ecosystem</a:t>
            </a:r>
          </a:p>
          <a:p>
            <a:br/>
            <a:pPr>
              <a:spcBef>
                <a:spcPts val="1000"/>
              </a:spcBef>
              <a:defRPr sz="1250" b="1">
                <a:solidFill>
                  <a:srgbClr val="06B6D4"/>
                </a:solidFill>
                <a:latin typeface="Segoe UI"/>
              </a:defRPr>
            </a:pPr>
            <a:r>
              <a:t>✔ Smart semantic partner matching</a:t>
            </a:r>
            <a:br/>
            <a:r>
              <a:t>✔ Sub-100ms live co-authoring</a:t>
            </a:r>
            <a:br/>
            <a:r>
              <a:t>✔ 100% cited literature AI</a:t>
            </a:r>
            <a:br/>
            <a:r>
              <a:t>✔ Built-in journal matchmaker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3209544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6. VALIDATION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Empirical Benchmarks &amp; System Responsiveness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Rigorous performance testing validates smooth execution under high concurrent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487168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 LATENCY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AI Search Speed</a:t>
            </a:r>
          </a:p>
          <a:p>
            <a:pPr>
              <a:spcBef>
                <a:spcPts val="400"/>
              </a:spcBef>
              <a:defRPr sz="3000" b="1">
                <a:solidFill>
                  <a:srgbClr val="2563EB"/>
                </a:solidFill>
                <a:latin typeface="Segoe UI"/>
              </a:defRPr>
            </a:pPr>
            <a:r>
              <a:t>&lt; 42 ms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High-dimensional semantic search retrieves the most relevant papers and researchers in milliseconds.</a:t>
            </a:r>
          </a:p>
          <a:p>
            <a:br/>
            <a:pPr>
              <a:spcBef>
                <a:spcPts val="1000"/>
              </a:spcBef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✅ Industry Benchmark: &lt; 100ms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1783080"/>
            <a:ext cx="2487168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THROUGHPUT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Requests / Second</a:t>
            </a:r>
          </a:p>
          <a:p>
            <a:pPr>
              <a:spcBef>
                <a:spcPts val="400"/>
              </a:spcBef>
              <a:defRPr sz="3000" b="1">
                <a:solidFill>
                  <a:srgbClr val="10B981"/>
                </a:solidFill>
                <a:latin typeface="Segoe UI"/>
              </a:defRPr>
            </a:pPr>
            <a:r>
              <a:t>&gt; 1,450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API Gateway sustains heavy concurrent load without bottlenecking or dropping requests.</a:t>
            </a:r>
          </a:p>
          <a:p>
            <a:br/>
            <a:pPr>
              <a:spcBef>
                <a:spcPts val="1000"/>
              </a:spcBef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✅ Target Capacity: &gt; 1,000 req/s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1783080"/>
            <a:ext cx="2487168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REAL-TIME SYNC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Live Sync Latency</a:t>
            </a:r>
          </a:p>
          <a:p>
            <a:pPr>
              <a:spcBef>
                <a:spcPts val="400"/>
              </a:spcBef>
              <a:defRPr sz="3000" b="1">
                <a:solidFill>
                  <a:srgbClr val="06B6D4"/>
                </a:solidFill>
                <a:latin typeface="Segoe UI"/>
              </a:defRPr>
            </a:pPr>
            <a:r>
              <a:t>&lt; 100 ms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Real-time co-authoring document updates synchronize instantaneously between active team members.</a:t>
            </a:r>
          </a:p>
          <a:p>
            <a:br/>
            <a:pPr>
              <a:spcBef>
                <a:spcPts val="1000"/>
              </a:spcBef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✅ Acceptable UX Limit: &lt; 200ms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783080"/>
            <a:ext cx="2487168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33104" y="1783080"/>
            <a:ext cx="2487168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2048256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RELIABILITY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Query Availability</a:t>
            </a:r>
          </a:p>
          <a:p>
            <a:pPr>
              <a:spcBef>
                <a:spcPts val="400"/>
              </a:spcBef>
              <a:defRPr sz="3000" b="1">
                <a:solidFill>
                  <a:srgbClr val="8B5CF6"/>
                </a:solidFill>
                <a:latin typeface="Segoe UI"/>
              </a:defRPr>
            </a:pPr>
            <a:r>
              <a:t>100 %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Deterministic failsafe fallback ensures zero server crashes and reliable answers even if cloud AI goes down.</a:t>
            </a:r>
          </a:p>
          <a:p>
            <a:br/>
            <a:pPr>
              <a:spcBef>
                <a:spcPts val="1000"/>
              </a:spcBef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✅ High-Availability Target: 99.9%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7.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Future Horizons for ResearchBridge</a:t>
            </a:r>
          </a:p>
          <a:p>
            <a:pPr>
              <a:spcBef>
                <a:spcPts val="300"/>
              </a:spcBef>
              <a:defRPr sz="1350">
                <a:solidFill>
                  <a:srgbClr val="475569"/>
                </a:solidFill>
                <a:latin typeface="Segoe UI"/>
              </a:defRPr>
            </a:pPr>
            <a:r>
              <a:t>Strategic expansion into inter-university networks, multimodal AI, and autonomous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HORIZON 1 • EXPANSION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Campus Federation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Segoe UI"/>
              </a:defRPr>
            </a:pPr>
            <a:r>
              <a:t>Connecting Universities</a:t>
            </a:r>
            <a:br/>
            <a:br/>
            <a:r>
              <a:t>• Integration with eduroam &amp; institutional SSO</a:t>
            </a:r>
            <a:br/>
            <a:r>
              <a:t>• Verified cross-university researcher badges</a:t>
            </a:r>
            <a:br/>
            <a:r>
              <a:t>• Inter-department research collaboration hubs</a:t>
            </a:r>
            <a:br/>
            <a:r>
              <a:t>• Automated campus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HORIZON 2 • MULTIMODAL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Multimodal Lab AI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Segoe UI"/>
              </a:defRPr>
            </a:pPr>
            <a:r>
              <a:t>Voice &amp; Visual Intelligence</a:t>
            </a:r>
            <a:br/>
            <a:br/>
            <a:r>
              <a:t>• Real-time voice agent for lab meeting minutes</a:t>
            </a:r>
            <a:br/>
            <a:r>
              <a:t>• Automatic diagram, table &amp; formula extraction</a:t>
            </a:r>
            <a:br/>
            <a:r>
              <a:t>• Integrated video conference workrooms</a:t>
            </a:r>
            <a:br/>
            <a:r>
              <a:t>• Automated code notebook synchronization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4279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4005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HORIZON 3 • AUTONOMOUS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Autonomous Review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Segoe UI"/>
              </a:defRPr>
            </a:pPr>
            <a:r>
              <a:t>Pre-Submission Critique AI</a:t>
            </a:r>
            <a:br/>
            <a:br/>
            <a:r>
              <a:t>• Adversarial pre-submission paper review</a:t>
            </a:r>
            <a:br/>
            <a:r>
              <a:t>• Pinpoints methodology and logic gaps</a:t>
            </a:r>
            <a:br/>
            <a:r>
              <a:t>• Automated journal-specific LaTeX compilation</a:t>
            </a:r>
            <a:br/>
            <a:r>
              <a:t>• Citation freshness and retraction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377440" cy="310896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CONCLUSION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Empowering the Next Generation of Scholars</a:t>
            </a:r>
          </a:p>
          <a:p>
            <a:pPr>
              <a:spcBef>
                <a:spcPts val="3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Bridging minds, grounding scientific discovery, and accelerating scholarly innovation.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ResearchBridge • Final Presentation • Institute of Information Technology (IIT), University of Dhaka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64992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36499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659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01 • UNIFIED WORKFLOW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Unified Ecosystem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Replaces 5+ fragmented apps with a single, intuitive launchpad covering discovery, execution, and publication.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649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659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02 • CITATION RIGOR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Trustworthy AI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Grounded AI with 100% real literature citations and zero server crashes through intelligent failsafe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83080"/>
            <a:ext cx="3364992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336499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03 • FAIR REPUTATION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Meritocratic Growth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  <a:latin typeface="Segoe UI"/>
              </a:defRPr>
            </a:pPr>
            <a:r>
              <a:t>TrustRank breaks the 0-citation cold start, empowering emerging researchers to gain reputation and publish faster.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45775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THANK YOU! • QUESTIONS &amp; ANSWERS</a:t>
            </a:r>
          </a:p>
          <a:p>
            <a:pPr algn="ctr">
              <a:spcBef>
                <a:spcPts val="4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Presenter: Mostofa Aminur Rashid (Roll: 2506107)   |   Supervisor: Dr. Kazi Muheymin-Us-Sakib</a:t>
            </a:r>
            <a:br/>
            <a:r>
              <a:t>Institute of Information Technology (IIT), University of Dhaka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